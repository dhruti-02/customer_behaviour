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4BC8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82296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6459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Shopping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D6"/>
                </a:solidFill>
              </a:rPr>
              <a:t>Insights from 3,900 purchases using Python, SQL and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3,900 purchases, three tools, one goal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Understand spending patterns, segments, product preferences, discounts, shipping and subscriptions.</a:t>
            </a:r>
            <a:endParaRPr lang="en-US" sz="1400" dirty="0"/>
          </a:p>
        </p:txBody>
      </p:sp>
      <p:sp>
        <p:nvSpPr>
          <p:cNvPr id="4" name="stat0"/>
          <p:cNvSpPr/>
          <p:nvPr/>
        </p:nvSpPr>
        <p:spPr>
          <a:xfrm>
            <a:off x="640080" y="1645920"/>
            <a:ext cx="24688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4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purchases</a:t>
            </a:r>
            <a:endParaRPr lang="en-US" sz="1300" dirty="0"/>
          </a:p>
        </p:txBody>
      </p:sp>
      <p:sp>
        <p:nvSpPr>
          <p:cNvPr id="7" name="stat1"/>
          <p:cNvSpPr/>
          <p:nvPr/>
        </p:nvSpPr>
        <p:spPr>
          <a:xfrm>
            <a:off x="3291840" y="1645920"/>
            <a:ext cx="24688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4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columns</a:t>
            </a:r>
            <a:endParaRPr lang="en-US" sz="1300" dirty="0"/>
          </a:p>
        </p:txBody>
      </p:sp>
      <p:sp>
        <p:nvSpPr>
          <p:cNvPr id="10" name="stat2"/>
          <p:cNvSpPr/>
          <p:nvPr/>
        </p:nvSpPr>
        <p:spPr>
          <a:xfrm>
            <a:off x="5943600" y="1645920"/>
            <a:ext cx="24688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4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missing ratings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4864" cy="8229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</a:rPr>
              <a:t>Python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Preparation &amp; 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54864" cy="8229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</a:rPr>
              <a:t>SQL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Business analysis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3383280"/>
            <a:ext cx="54864" cy="8229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</a:rPr>
              <a:t>Power BI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Dashboard &amp; communication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cleaned and enriched the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Dataset: demographics, purchase details and shopping behavior across 18 columns.</a:t>
            </a:r>
            <a:endParaRPr lang="en-US" sz="1400" dirty="0"/>
          </a:p>
        </p:txBody>
      </p:sp>
      <p:sp>
        <p:nvSpPr>
          <p:cNvPr id="4" name="step0"/>
          <p:cNvSpPr/>
          <p:nvPr/>
        </p:nvSpPr>
        <p:spPr>
          <a:xfrm>
            <a:off x="640080" y="1737360"/>
            <a:ext cx="144475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</a:rPr>
              <a:t>Impute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Filled missing ratings with each category's median</a:t>
            </a:r>
            <a:endParaRPr lang="en-US" sz="1100" dirty="0"/>
          </a:p>
        </p:txBody>
      </p:sp>
      <p:sp>
        <p:nvSpPr>
          <p:cNvPr id="8" name="step1"/>
          <p:cNvSpPr/>
          <p:nvPr/>
        </p:nvSpPr>
        <p:spPr>
          <a:xfrm>
            <a:off x="2212848" y="1737360"/>
            <a:ext cx="144475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50008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</a:rPr>
              <a:t>Standardize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274320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Renamed columns to snake_case</a:t>
            </a:r>
            <a:endParaRPr lang="en-US" sz="1100" dirty="0"/>
          </a:p>
        </p:txBody>
      </p:sp>
      <p:sp>
        <p:nvSpPr>
          <p:cNvPr id="12" name="step2"/>
          <p:cNvSpPr/>
          <p:nvPr/>
        </p:nvSpPr>
        <p:spPr>
          <a:xfrm>
            <a:off x="3785616" y="1737360"/>
            <a:ext cx="144475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22776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922776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</a:rPr>
              <a:t>Engineer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274320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Added age_group and purchase_frequency_days</a:t>
            </a:r>
            <a:endParaRPr lang="en-US" sz="1100" dirty="0"/>
          </a:p>
        </p:txBody>
      </p:sp>
      <p:sp>
        <p:nvSpPr>
          <p:cNvPr id="16" name="step3"/>
          <p:cNvSpPr/>
          <p:nvPr/>
        </p:nvSpPr>
        <p:spPr>
          <a:xfrm>
            <a:off x="5358384" y="1737360"/>
            <a:ext cx="144475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95544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95544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</a:rPr>
              <a:t>Simplify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68112" y="274320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Dropped promo_code_used, redundant with discount_applied</a:t>
            </a:r>
            <a:endParaRPr lang="en-US" sz="1100" dirty="0"/>
          </a:p>
        </p:txBody>
      </p:sp>
      <p:sp>
        <p:nvSpPr>
          <p:cNvPr id="20" name="step4"/>
          <p:cNvSpPr/>
          <p:nvPr/>
        </p:nvSpPr>
        <p:spPr>
          <a:xfrm>
            <a:off x="6931152" y="1737360"/>
            <a:ext cx="1444752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</a:rPr>
              <a:t>Load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743200"/>
            <a:ext cx="1243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Loaded cleaned data into the database for SQL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Adults and men drive revenue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REVENUE BY AGE GROUP</a:t>
            </a:r>
            <a:endParaRPr lang="en-US" sz="1100" dirty="0"/>
          </a:p>
        </p:txBody>
      </p:sp>
      <p:sp>
        <p:nvSpPr>
          <p:cNvPr id="4" name="age0"/>
          <p:cNvSpPr/>
          <p:nvPr/>
        </p:nvSpPr>
        <p:spPr>
          <a:xfrm>
            <a:off x="640080" y="1600200"/>
            <a:ext cx="4206240" cy="548640"/>
          </a:xfrm>
          <a:prstGeom prst="rect">
            <a:avLst/>
          </a:prstGeom>
          <a:solidFill>
            <a:srgbClr val="1B1B1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Young Adults</a:t>
            </a:r>
            <a:endParaRPr lang="en-US" sz="1600" dirty="0"/>
          </a:p>
        </p:txBody>
      </p:sp>
      <p:sp>
        <p:nvSpPr>
          <p:cNvPr id="7" name="age1"/>
          <p:cNvSpPr/>
          <p:nvPr/>
        </p:nvSpPr>
        <p:spPr>
          <a:xfrm>
            <a:off x="640080" y="2258568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5856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58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F"/>
                </a:solidFill>
              </a:rPr>
              <a:t>Middle-aged</a:t>
            </a:r>
            <a:endParaRPr lang="en-US" sz="1600" dirty="0"/>
          </a:p>
        </p:txBody>
      </p:sp>
      <p:sp>
        <p:nvSpPr>
          <p:cNvPr id="10" name="age2"/>
          <p:cNvSpPr/>
          <p:nvPr/>
        </p:nvSpPr>
        <p:spPr>
          <a:xfrm>
            <a:off x="640080" y="2916936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91693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169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F"/>
                </a:solidFill>
              </a:rPr>
              <a:t>Adult</a:t>
            </a:r>
            <a:endParaRPr lang="en-US" sz="1600" dirty="0"/>
          </a:p>
        </p:txBody>
      </p:sp>
      <p:sp>
        <p:nvSpPr>
          <p:cNvPr id="13" name="age3"/>
          <p:cNvSpPr/>
          <p:nvPr/>
        </p:nvSpPr>
        <p:spPr>
          <a:xfrm>
            <a:off x="640080" y="3575304"/>
            <a:ext cx="4206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5753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753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F"/>
                </a:solidFill>
              </a:rPr>
              <a:t>Senior</a:t>
            </a:r>
            <a:endParaRPr lang="en-US" sz="1600" dirty="0"/>
          </a:p>
        </p:txBody>
      </p:sp>
      <p:sp>
        <p:nvSpPr>
          <p:cNvPr id="16" name="gender"/>
          <p:cNvSpPr/>
          <p:nvPr/>
        </p:nvSpPr>
        <p:spPr>
          <a:xfrm>
            <a:off x="5303520" y="1600200"/>
            <a:ext cx="3200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BY GENDER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4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Male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9260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customers generate the larger total revenue; female customers remain a material share.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 customers rarely subscribe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SEGMENTS BY PREVIOUS PURCHASES</a:t>
            </a:r>
            <a:endParaRPr lang="en-US" sz="1100" dirty="0"/>
          </a:p>
        </p:txBody>
      </p:sp>
      <p:sp>
        <p:nvSpPr>
          <p:cNvPr id="4" name="seg0"/>
          <p:cNvSpPr/>
          <p:nvPr/>
        </p:nvSpPr>
        <p:spPr>
          <a:xfrm>
            <a:off x="640080" y="1600200"/>
            <a:ext cx="3840480" cy="731520"/>
          </a:xfrm>
          <a:prstGeom prst="rect">
            <a:avLst/>
          </a:prstGeom>
          <a:solidFill>
            <a:srgbClr val="1B1B1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600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9CBD6"/>
                </a:solidFill>
              </a:rPr>
              <a:t>Largest segment</a:t>
            </a:r>
            <a:endParaRPr lang="en-US" sz="1300" dirty="0"/>
          </a:p>
        </p:txBody>
      </p:sp>
      <p:sp>
        <p:nvSpPr>
          <p:cNvPr id="7" name="seg1"/>
          <p:cNvSpPr/>
          <p:nvPr/>
        </p:nvSpPr>
        <p:spPr>
          <a:xfrm>
            <a:off x="640080" y="2468880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Second</a:t>
            </a:r>
            <a:endParaRPr lang="en-US" sz="1300" dirty="0"/>
          </a:p>
        </p:txBody>
      </p:sp>
      <p:sp>
        <p:nvSpPr>
          <p:cNvPr id="10" name="seg2"/>
          <p:cNvSpPr/>
          <p:nvPr/>
        </p:nvSpPr>
        <p:spPr>
          <a:xfrm>
            <a:off x="640080" y="3337560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337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Smallest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SUBSCRIPTION (5+ PRIOR PURCHASES)</a:t>
            </a:r>
            <a:endParaRPr lang="en-US" sz="1100" dirty="0"/>
          </a:p>
        </p:txBody>
      </p:sp>
      <p:sp>
        <p:nvSpPr>
          <p:cNvPr id="14" name="cell00"/>
          <p:cNvSpPr/>
          <p:nvPr/>
        </p:nvSpPr>
        <p:spPr>
          <a:xfrm>
            <a:off x="4846320" y="1600200"/>
            <a:ext cx="1188720" cy="457200"/>
          </a:xfrm>
          <a:prstGeom prst="rect">
            <a:avLst/>
          </a:prstGeom>
          <a:solidFill>
            <a:srgbClr val="3B4BC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1600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cell01"/>
          <p:cNvSpPr/>
          <p:nvPr/>
        </p:nvSpPr>
        <p:spPr>
          <a:xfrm>
            <a:off x="6035040" y="1600200"/>
            <a:ext cx="1234440" cy="457200"/>
          </a:xfrm>
          <a:prstGeom prst="rect">
            <a:avLst/>
          </a:prstGeom>
          <a:solidFill>
            <a:srgbClr val="3B4BC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600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Subscribers</a:t>
            </a:r>
            <a:endParaRPr lang="en-US" sz="1200" dirty="0"/>
          </a:p>
        </p:txBody>
      </p:sp>
      <p:sp>
        <p:nvSpPr>
          <p:cNvPr id="18" name="cell02"/>
          <p:cNvSpPr/>
          <p:nvPr/>
        </p:nvSpPr>
        <p:spPr>
          <a:xfrm>
            <a:off x="7269480" y="1600200"/>
            <a:ext cx="1234440" cy="457200"/>
          </a:xfrm>
          <a:prstGeom prst="rect">
            <a:avLst/>
          </a:prstGeom>
          <a:solidFill>
            <a:srgbClr val="3B4BC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1600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Non-subs</a:t>
            </a:r>
            <a:endParaRPr lang="en-US" sz="1200" dirty="0"/>
          </a:p>
        </p:txBody>
      </p:sp>
      <p:sp>
        <p:nvSpPr>
          <p:cNvPr id="20" name="cell10"/>
          <p:cNvSpPr/>
          <p:nvPr/>
        </p:nvSpPr>
        <p:spPr>
          <a:xfrm>
            <a:off x="4846320" y="20574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0574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B1F"/>
                </a:solidFill>
              </a:rPr>
              <a:t>Avg. spend</a:t>
            </a:r>
            <a:endParaRPr lang="en-US" sz="1200" dirty="0"/>
          </a:p>
        </p:txBody>
      </p:sp>
      <p:sp>
        <p:nvSpPr>
          <p:cNvPr id="22" name="cell11"/>
          <p:cNvSpPr/>
          <p:nvPr/>
        </p:nvSpPr>
        <p:spPr>
          <a:xfrm>
            <a:off x="6035040" y="20574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2648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F"/>
                </a:solidFill>
              </a:rPr>
              <a:t>Slightly lower</a:t>
            </a:r>
            <a:endParaRPr lang="en-US" sz="1200" dirty="0"/>
          </a:p>
        </p:txBody>
      </p:sp>
      <p:sp>
        <p:nvSpPr>
          <p:cNvPr id="24" name="cell12"/>
          <p:cNvSpPr/>
          <p:nvPr/>
        </p:nvSpPr>
        <p:spPr>
          <a:xfrm>
            <a:off x="7269480" y="20574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92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F"/>
                </a:solidFill>
              </a:rPr>
              <a:t>Higher</a:t>
            </a:r>
            <a:endParaRPr lang="en-US" sz="1200" dirty="0"/>
          </a:p>
        </p:txBody>
      </p:sp>
      <p:sp>
        <p:nvSpPr>
          <p:cNvPr id="26" name="cell20"/>
          <p:cNvSpPr/>
          <p:nvPr/>
        </p:nvSpPr>
        <p:spPr>
          <a:xfrm>
            <a:off x="4846320" y="25146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2514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B1F"/>
                </a:solidFill>
              </a:rPr>
              <a:t>Group size</a:t>
            </a:r>
            <a:endParaRPr lang="en-US" sz="1200" dirty="0"/>
          </a:p>
        </p:txBody>
      </p:sp>
      <p:sp>
        <p:nvSpPr>
          <p:cNvPr id="28" name="cell21"/>
          <p:cNvSpPr/>
          <p:nvPr/>
        </p:nvSpPr>
        <p:spPr>
          <a:xfrm>
            <a:off x="6035040" y="25146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F"/>
                </a:solidFill>
              </a:rPr>
              <a:t>Smaller</a:t>
            </a:r>
            <a:endParaRPr lang="en-US" sz="1200" dirty="0"/>
          </a:p>
        </p:txBody>
      </p:sp>
      <p:sp>
        <p:nvSpPr>
          <p:cNvPr id="30" name="cell22"/>
          <p:cNvSpPr/>
          <p:nvPr/>
        </p:nvSpPr>
        <p:spPr>
          <a:xfrm>
            <a:off x="7269480" y="25146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60920" y="2514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F"/>
                </a:solidFill>
              </a:rPr>
              <a:t>Larger</a:t>
            </a:r>
            <a:endParaRPr lang="en-US" sz="1200" dirty="0"/>
          </a:p>
        </p:txBody>
      </p:sp>
      <p:sp>
        <p:nvSpPr>
          <p:cNvPr id="32" name="cell30"/>
          <p:cNvSpPr/>
          <p:nvPr/>
        </p:nvSpPr>
        <p:spPr>
          <a:xfrm>
            <a:off x="4846320" y="297180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37760" y="2971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B1F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34" name="cell31"/>
          <p:cNvSpPr/>
          <p:nvPr/>
        </p:nvSpPr>
        <p:spPr>
          <a:xfrm>
            <a:off x="6035040" y="29718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26480" y="2971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F"/>
                </a:solidFill>
              </a:rPr>
              <a:t>Lower</a:t>
            </a:r>
            <a:endParaRPr lang="en-US" sz="1200" dirty="0"/>
          </a:p>
        </p:txBody>
      </p:sp>
      <p:sp>
        <p:nvSpPr>
          <p:cNvPr id="36" name="cell32"/>
          <p:cNvSpPr/>
          <p:nvPr/>
        </p:nvSpPr>
        <p:spPr>
          <a:xfrm>
            <a:off x="7269480" y="29718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60920" y="2971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F"/>
                </a:solidFill>
              </a:rPr>
              <a:t>Much higher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Loyal behavior is not yet converting into subscriptions: non-subscribers outnumber subscribers among repeat buyers.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Discounts and shipping: who spends more</a:t>
            </a:r>
            <a:endParaRPr lang="en-US" sz="2600" dirty="0"/>
          </a:p>
        </p:txBody>
      </p:sp>
      <p:sp>
        <p:nvSpPr>
          <p:cNvPr id="3" name="kpi0"/>
          <p:cNvSpPr/>
          <p:nvPr/>
        </p:nvSpPr>
        <p:spPr>
          <a:xfrm>
            <a:off x="640080" y="1554480"/>
            <a:ext cx="2468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468880" cy="64008"/>
          </a:xfrm>
          <a:prstGeom prst="rect">
            <a:avLst/>
          </a:prstGeom>
          <a:solidFill>
            <a:srgbClr val="3B4BC8"/>
          </a:solidFill>
          <a:ln w="12700">
            <a:solidFill>
              <a:srgbClr val="3B4B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</a:rPr>
              <a:t>customers used a discount and still spent above average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Discounts are not limited to low-value orders.</a:t>
            </a:r>
            <a:endParaRPr lang="en-US" sz="1200" dirty="0"/>
          </a:p>
        </p:txBody>
      </p:sp>
      <p:sp>
        <p:nvSpPr>
          <p:cNvPr id="8" name="kpi1"/>
          <p:cNvSpPr/>
          <p:nvPr/>
        </p:nvSpPr>
        <p:spPr>
          <a:xfrm>
            <a:off x="3291840" y="1554480"/>
            <a:ext cx="2468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554480"/>
            <a:ext cx="2468880" cy="640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</a:rPr>
              <a:t>of hat purchases involved a discount, the highest incidence of any product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Hats lead discount dependence.</a:t>
            </a:r>
            <a:endParaRPr lang="en-US" sz="1200" dirty="0"/>
          </a:p>
        </p:txBody>
      </p:sp>
      <p:sp>
        <p:nvSpPr>
          <p:cNvPr id="13" name="kpi2"/>
          <p:cNvSpPr/>
          <p:nvPr/>
        </p:nvSpPr>
        <p:spPr>
          <a:xfrm>
            <a:off x="5943600" y="1554480"/>
            <a:ext cx="2468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554480"/>
            <a:ext cx="246888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606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B1F"/>
                </a:solidFill>
              </a:rPr>
              <a:t>shipping carries a higher average purchase amount than Standard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611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 premium segment worth targeting.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dashboard brings it together</a:t>
            </a:r>
            <a:endParaRPr lang="en-US" sz="2600" dirty="0"/>
          </a:p>
        </p:txBody>
      </p:sp>
      <p:sp>
        <p:nvSpPr>
          <p:cNvPr id="3" name="dash0"/>
          <p:cNvSpPr/>
          <p:nvPr/>
        </p:nvSpPr>
        <p:spPr>
          <a:xfrm>
            <a:off x="640080" y="13716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4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cards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Number of customers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Average purchase amount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Average review rating</a:t>
            </a:r>
            <a:endParaRPr lang="en-US" sz="1300" dirty="0"/>
          </a:p>
        </p:txBody>
      </p:sp>
      <p:sp>
        <p:nvSpPr>
          <p:cNvPr id="6" name="dash1"/>
          <p:cNvSpPr/>
          <p:nvPr/>
        </p:nvSpPr>
        <p:spPr>
          <a:xfrm>
            <a:off x="3291840" y="13716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4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03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Subscription 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Revenue &amp; sales by 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Revenue &amp; sales by age group</a:t>
            </a:r>
            <a:endParaRPr lang="en-US" sz="1300" dirty="0"/>
          </a:p>
        </p:txBody>
      </p:sp>
      <p:sp>
        <p:nvSpPr>
          <p:cNvPr id="9" name="dash2"/>
          <p:cNvSpPr/>
          <p:nvPr/>
        </p:nvSpPr>
        <p:spPr>
          <a:xfrm>
            <a:off x="5943600" y="13716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554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4B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103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Subscription 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Gender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</a:rPr>
              <a:t>Shipping type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280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Boost subscriptions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280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BD6"/>
                </a:solidFill>
              </a:rPr>
              <a:t>Exclusive benefits and clearer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7863840" cy="0"/>
          </a:xfrm>
          <a:prstGeom prst="line">
            <a:avLst/>
          </a:prstGeom>
          <a:noFill/>
          <a:ln w="9525">
            <a:solidFill>
              <a:srgbClr val="3A3D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38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Build loyalty programs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1938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BD6"/>
                </a:solidFill>
              </a:rPr>
              <a:t>Reward repeat buyers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42032"/>
            <a:ext cx="7863840" cy="0"/>
          </a:xfrm>
          <a:prstGeom prst="line">
            <a:avLst/>
          </a:prstGeom>
          <a:noFill/>
          <a:ln w="9525">
            <a:solidFill>
              <a:srgbClr val="3A3D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968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Review discount policy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5968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BD6"/>
                </a:solidFill>
              </a:rPr>
              <a:t>Balance sales and margin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9525">
            <a:solidFill>
              <a:srgbClr val="3A3D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2552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Feature top products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2552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BD6"/>
                </a:solidFill>
              </a:rPr>
              <a:t>Promote top-rated and best-selling items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858768"/>
            <a:ext cx="7863840" cy="0"/>
          </a:xfrm>
          <a:prstGeom prst="line">
            <a:avLst/>
          </a:prstGeom>
          <a:noFill/>
          <a:ln w="9525">
            <a:solidFill>
              <a:srgbClr val="3A3D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913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Target key customers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9136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BD6"/>
                </a:solidFill>
              </a:rPr>
              <a:t>High-revenue age groups and Express shippers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Python prepares the data, SQL supplies the evidence, Power BI keeps it visible.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ping Insights">
  <a:themeElements>
    <a:clrScheme name="Shopping Insights">
      <a:dk1>
        <a:srgbClr val="1B1B1F"/>
      </a:dk1>
      <a:lt1>
        <a:srgbClr val="FFFFFF"/>
      </a:lt1>
      <a:dk2>
        <a:srgbClr val="2A2D3E"/>
      </a:dk2>
      <a:lt2>
        <a:srgbClr val="F6F4EF"/>
      </a:lt2>
      <a:accent1>
        <a:srgbClr val="3B4BC8"/>
      </a:accent1>
      <a:accent2>
        <a:srgbClr val="E4572E"/>
      </a:accent2>
      <a:accent3>
        <a:srgbClr val="6B7280"/>
      </a:accent3>
      <a:accent4>
        <a:srgbClr val="D9D5CB"/>
      </a:accent4>
      <a:accent5>
        <a:srgbClr val="0F766E"/>
      </a:accent5>
      <a:accent6>
        <a:srgbClr val="B45309"/>
      </a:accent6>
      <a:hlink>
        <a:srgbClr val="3B4BC8"/>
      </a:hlink>
      <a:folHlink>
        <a:srgbClr val="6B7280"/>
      </a:folHlink>
    </a:clrScheme>
    <a:fontScheme name="Shopping Insight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2026-10-05T10:35:13Z</dcterms:created>
  <dcterms:modified xsi:type="dcterms:W3CDTF">2026-10-05T10:35:13Z</dcterms:modified>
</cp:coreProperties>
</file>